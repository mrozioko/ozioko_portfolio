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0750" y="1190625"/>
            <a:ext cx="12382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238375"/>
            <a:ext cx="7429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3238500"/>
            <a:ext cx="7429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1375" y="4238625"/>
            <a:ext cx="7620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191125"/>
            <a:ext cx="33337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Lesson text 1">
            <a:extLst>
              <a:ext uri="{FF2B5EF4-FFF2-40B4-BE49-F238E27FC236}">
                <a16:creationId xmlns:a16="http://schemas.microsoft.com/office/drawing/2014/main" id="{7B62694B-F992-43C2-AB64-F0F43FAA3E4E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endParaRPr lang="en-GB" sz="1100" b="1" dirty="0">
              <a:solidFill>
                <a:srgbClr val="152B46"/>
              </a:solidFill>
              <a:latin typeface="Arial"/>
              <a:ea typeface="Arial"/>
              <a:cs typeface="Arial"/>
            </a:endParaRPr>
          </a:p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lang="en-GB" sz="1100" b="1" dirty="0">
                <a:solidFill>
                  <a:srgbClr val="152B46"/>
                </a:solidFill>
              </a:rPr>
              <a:t>                                                  </a:t>
            </a:r>
            <a:r>
              <a:rPr lang="en-GB" sz="2000" b="1" dirty="0">
                <a:solidFill>
                  <a:srgbClr val="152B46"/>
                </a:solidFill>
              </a:rPr>
              <a:t> STARTER</a:t>
            </a:r>
          </a:p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lang="en-GB" sz="110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endParaRPr sz="1100" b="1" dirty="0">
              <a:solidFill>
                <a:srgbClr val="152B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86A8D9B3-B8DB-41E4-BADD-24DD5B77F33F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8382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What should a driver do when the light is…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6394EE09-7C7B-498B-830B-16645244E3EB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B323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32332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23A50414-3F11-4028-9973-333E8390D80C}"/>
              </a:ext>
            </a:extLst>
          </p:cNvPr>
          <p:cNvSpPr>
            <a:spLocks noGrp="1"/>
          </p:cNvSpPr>
          <p:nvPr/>
        </p:nvSpPr>
        <p:spPr>
          <a:xfrm>
            <a:off x="714375" y="32385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A6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A6000"/>
                </a:solidFill>
                <a:latin typeface="Arial"/>
                <a:ea typeface="Arial"/>
                <a:cs typeface="Arial"/>
              </a:rPr>
              <a:t>AMBER</a:t>
            </a:r>
          </a:p>
        </p:txBody>
      </p:sp>
      <p:sp>
        <p:nvSpPr>
          <p:cNvPr id="1004" name="Lesson text 5">
            <a:extLst>
              <a:ext uri="{FF2B5EF4-FFF2-40B4-BE49-F238E27FC236}">
                <a16:creationId xmlns:a16="http://schemas.microsoft.com/office/drawing/2014/main" id="{0036FED0-E36E-44A0-BFF7-E6FC231AD572}"/>
              </a:ext>
            </a:extLst>
          </p:cNvPr>
          <p:cNvSpPr>
            <a:spLocks noGrp="1"/>
          </p:cNvSpPr>
          <p:nvPr/>
        </p:nvSpPr>
        <p:spPr>
          <a:xfrm>
            <a:off x="714375" y="42386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0875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54B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92" name="Lesson text 6">
            <a:extLst>
              <a:ext uri="{FF2B5EF4-FFF2-40B4-BE49-F238E27FC236}">
                <a16:creationId xmlns:a16="http://schemas.microsoft.com/office/drawing/2014/main" id="{01ED15A7-7F99-458D-B122-794B6CA95918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What if the light shows none of these colours?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3E892511-ED15-41B8-95B4-06AC354198E2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lang="en-GB" sz="345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Topic: </a:t>
            </a:r>
            <a:r>
              <a:rPr sz="345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Python decisions</a:t>
            </a:r>
            <a:r>
              <a:rPr lang="en-GB" sz="345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-</a:t>
            </a:r>
            <a:r>
              <a:rPr sz="345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 if, </a:t>
            </a:r>
            <a:r>
              <a:rPr sz="3450" b="1" dirty="0" err="1">
                <a:solidFill>
                  <a:srgbClr val="152B46"/>
                </a:solidFill>
                <a:latin typeface="Arial"/>
                <a:ea typeface="Arial"/>
                <a:cs typeface="Arial"/>
              </a:rPr>
              <a:t>elif</a:t>
            </a:r>
            <a:r>
              <a:rPr sz="3450" b="1" dirty="0">
                <a:solidFill>
                  <a:srgbClr val="152B46"/>
                </a:solidFill>
                <a:latin typeface="Arial"/>
                <a:ea typeface="Arial"/>
                <a:cs typeface="Arial"/>
              </a:rPr>
              <a:t> and else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C01A861B-10FA-4880-95C7-DA69A0E9CED0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 program checks a condition and chooses what to do.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F2F14687-6999-4549-A56F-014A5F0EA8A2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By the end of the lesson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F077C8CC-5F58-4D04-84FF-99BF4E7EBC6C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066800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1. Follow a decision in a flowchart.</a:t>
            </a:r>
          </a:p>
          <a:p>
            <a:endParaRPr sz="255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2. Predict which message a program prints.</a:t>
            </a:r>
          </a:p>
          <a:p>
            <a:endParaRPr sz="255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3. Write and test an if / elif / else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5625"/>
            <a:ext cx="10953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Lesson text 1">
            <a:extLst>
              <a:ext uri="{FF2B5EF4-FFF2-40B4-BE49-F238E27FC236}">
                <a16:creationId xmlns:a16="http://schemas.microsoft.com/office/drawing/2014/main" id="{9358C370-A739-46F0-A400-2FE8383B5B65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One decision, several possible outcomes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D934EB49-4AF0-468B-A71A-4213804CBEC7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8585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if checks the first condition.</a:t>
            </a:r>
          </a:p>
          <a:p>
            <a:pPr>
              <a:defRPr sz="23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elif checks another condition if the earlier one is False.</a:t>
            </a:r>
          </a:p>
          <a:p>
            <a:pPr>
              <a:defRPr sz="23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else runs if every condition is False.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DED46208-EEEC-4AAF-A800-1F644E6A21EF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The first True condition chooses the branch.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1952625"/>
            <a:ext cx="3810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0065" y="1104900"/>
            <a:ext cx="14287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1428750"/>
            <a:ext cx="619125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Lesson text 1">
            <a:extLst>
              <a:ext uri="{FF2B5EF4-FFF2-40B4-BE49-F238E27FC236}">
                <a16:creationId xmlns:a16="http://schemas.microsoft.com/office/drawing/2014/main" id="{4A2FC0E2-E442-4BAD-9BA7-7065DC820DD1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Traffic light: flowchart and Python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2B24A822-6899-4595-9685-1094304FC876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Follow the checks from top to bottom.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33625"/>
            <a:ext cx="74295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0" y="3000375"/>
            <a:ext cx="29527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0" y="4429125"/>
            <a:ext cx="29527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Lesson text 1">
            <a:extLst>
              <a:ext uri="{FF2B5EF4-FFF2-40B4-BE49-F238E27FC236}">
                <a16:creationId xmlns:a16="http://schemas.microsoft.com/office/drawing/2014/main" id="{0896259D-5714-4B4F-B280-E45042E473F7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Predict the output: age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1C8E5A15-D955-4D5A-8CD1-296302339B4B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Work with a partner. Predict the output for age 43 and age 8.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Then run the code to check.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B62A0013-DF21-4061-882D-DA96C8F557F6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Why does only one message print?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381250"/>
            <a:ext cx="63341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4750" y="1809750"/>
            <a:ext cx="39052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Lesson text 1">
            <a:extLst>
              <a:ext uri="{FF2B5EF4-FFF2-40B4-BE49-F238E27FC236}">
                <a16:creationId xmlns:a16="http://schemas.microsoft.com/office/drawing/2014/main" id="{E48FBD6B-C71E-4759-A21B-2EB104CA9E60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From Python to a flowchart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99EB5ECB-8000-4A8D-8764-CFF4F50ADDB1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Draw the flowchart before revealing the answer.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51C4E44D-1EA9-4BA4-A20A-697F2B4890D4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Practice 1: the drinks menu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0EAFE10F-40BF-4667-97FB-254F8689FACC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TEA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4A298BC5-E6B6-4C1D-9B41-D58E156BF7D5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4667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COFFEE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1FB72C03-9636-4163-BF56-FA711A1CF1E7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4953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"Here is your tea."</a:t>
            </a:r>
          </a:p>
        </p:txBody>
      </p:sp>
      <p:sp>
        <p:nvSpPr>
          <p:cNvPr id="1004" name="Lesson text 5">
            <a:extLst>
              <a:ext uri="{FF2B5EF4-FFF2-40B4-BE49-F238E27FC236}">
                <a16:creationId xmlns:a16="http://schemas.microsoft.com/office/drawing/2014/main" id="{F180D8C4-823C-48F5-BD4D-7EC15C73BED6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3524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"Here is your coffee."</a:t>
            </a:r>
          </a:p>
        </p:txBody>
      </p:sp>
      <p:sp>
        <p:nvSpPr>
          <p:cNvPr id="1005" name="Lesson text 6">
            <a:extLst>
              <a:ext uri="{FF2B5EF4-FFF2-40B4-BE49-F238E27FC236}">
                <a16:creationId xmlns:a16="http://schemas.microsoft.com/office/drawing/2014/main" id="{4E97636E-B055-4356-874A-341F7F98E55D}"/>
              </a:ext>
            </a:extLst>
          </p:cNvPr>
          <p:cNvSpPr>
            <a:spLocks noGrp="1"/>
          </p:cNvSpPr>
          <p:nvPr/>
        </p:nvSpPr>
        <p:spPr>
          <a:xfrm>
            <a:off x="619125" y="3429000"/>
            <a:ext cx="6953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Ask the user to enter tea or coffee.</a:t>
            </a: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Choose the correct message using if, elif and else.</a:t>
            </a:r>
          </a:p>
        </p:txBody>
      </p:sp>
      <p:sp>
        <p:nvSpPr>
          <p:cNvPr id="1006" name="Lesson text 7">
            <a:extLst>
              <a:ext uri="{FF2B5EF4-FFF2-40B4-BE49-F238E27FC236}">
                <a16:creationId xmlns:a16="http://schemas.microsoft.com/office/drawing/2014/main" id="{DD6FF951-7145-4121-A046-56BA8CC44CC7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6953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A13A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13A36"/>
                </a:solidFill>
                <a:latin typeface="Arial"/>
                <a:ea typeface="Arial"/>
                <a:cs typeface="Arial"/>
              </a:rPr>
              <a:t>Anything else: "Sorry, we only have tea or coffee."</a:t>
            </a:r>
          </a:p>
        </p:txBody>
      </p:sp>
      <p:pic>
        <p:nvPicPr>
          <p:cNvPr id="2000" name="Learning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2524125"/>
            <a:ext cx="3857625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7E42BB38-CAE0-43F0-AB17-D42B07F0C233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A helpful starting point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6D95AE08-099C-4712-A136-B4C3A36EA1BD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953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drink =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 or coffee? 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2400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"________________"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"coffee"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"________________"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"________________"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4C537833-5052-4335-BAFD-DDB2E28C7A43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Use four spaces before each print statement.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89C980FA-B14F-4D15-81F8-0ED22EB9C0E9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Drinks menu: a worked answer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D4567264-A538-4BF8-8002-FD9955A1B844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09537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drink =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 or coffee? 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2325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tea."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"coffee"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coffee."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"Sorry, we only have tea or coffee."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124B6B93-F3B5-4941-BAED-6626828D8FC1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Test with: tea, coffee and water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AB4A0026-59C8-460F-B750-3788054E8058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Practice 2: a third choice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01988DC6-3362-4D44-A957-9B203FAC4B67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JUICE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5E0C8470-4326-4283-9372-4D2DCA90F8D6}"/>
              </a:ext>
            </a:extLst>
          </p:cNvPr>
          <p:cNvSpPr>
            <a:spLocks noGrp="1"/>
          </p:cNvSpPr>
          <p:nvPr/>
        </p:nvSpPr>
        <p:spPr>
          <a:xfrm>
            <a:off x="619125" y="2476500"/>
            <a:ext cx="68580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Add juice to your menu.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For juice, print:</a:t>
            </a: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"A healthy choice! Here is your juice."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6FD03B13-19A8-4365-BD66-45C29D276256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Update the final message to include all three drinks.</a:t>
            </a:r>
          </a:p>
        </p:txBody>
      </p:sp>
      <p:pic>
        <p:nvPicPr>
          <p:cNvPr id="2000" name="Learning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619250"/>
            <a:ext cx="3476625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52BF59F3-B217-4F64-A18C-57D0E9CF5794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Three drinks: a worked answer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49E1F420-320E-446C-AFD4-3E0599E1F404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1144250" cy="428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drink =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"Tea, coffee or juice? 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tea."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"coffee"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coffee."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"juice"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"A healthy choice! Here is your juice."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"We only have tea, coffee and juice."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2EBDFB9D-5F1C-4BE9-9EA4-4873813208F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The extra elif comes before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908BAF4E-2555-4BA4-A66E-39256C7FCA57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Practice 3: a grade calculator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9AD8C52C-AC11-4294-881C-4E6A4B8366CD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Ask for three scores from 0 to 100.</a:t>
            </a:r>
          </a:p>
          <a:p>
            <a:pPr>
              <a:defRPr sz="26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Calculate the average and display its grade.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09584E69-F28E-4A60-BA32-08859E6A3B58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Average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E971889E-313F-4565-AC7E-C87D140D8712}"/>
              </a:ext>
            </a:extLst>
          </p:cNvPr>
          <p:cNvSpPr>
            <a:spLocks noGrp="1"/>
          </p:cNvSpPr>
          <p:nvPr/>
        </p:nvSpPr>
        <p:spPr>
          <a:xfrm>
            <a:off x="6572250" y="271462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Grade</a:t>
            </a:r>
          </a:p>
        </p:txBody>
      </p:sp>
      <p:sp>
        <p:nvSpPr>
          <p:cNvPr id="1004" name="Lesson text 5">
            <a:extLst>
              <a:ext uri="{FF2B5EF4-FFF2-40B4-BE49-F238E27FC236}">
                <a16:creationId xmlns:a16="http://schemas.microsoft.com/office/drawing/2014/main" id="{7C8E9718-DF08-4A01-A898-45F48F2139EC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5334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80 or more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70 to less than 80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60 to less than 70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50 to less than 60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Below 50</a:t>
            </a:r>
          </a:p>
        </p:txBody>
      </p:sp>
      <p:sp>
        <p:nvSpPr>
          <p:cNvPr id="1005" name="Lesson text 6">
            <a:extLst>
              <a:ext uri="{FF2B5EF4-FFF2-40B4-BE49-F238E27FC236}">
                <a16:creationId xmlns:a16="http://schemas.microsoft.com/office/drawing/2014/main" id="{E0F68615-52DE-4214-A4CB-05898B1675B2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3810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B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C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D</a:t>
            </a:r>
          </a:p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pic>
        <p:nvPicPr>
          <p:cNvPr id="2000" name="Learning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857500"/>
            <a:ext cx="338137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16FDBFEB-AA06-47D9-A7A3-53F5F943C4F2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The average: a worked answer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6D3C69DD-3A9B-4C44-B345-D4CF7D3148E2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95375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score1 =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"Score 1: 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score2 =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"Score 2: 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score3 = 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"Score 3: 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endParaRPr sz="2400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average = (score1 + score2 + score3) / 3</a:t>
            </a:r>
          </a:p>
          <a:p>
            <a:pPr>
              <a:defRPr sz="24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0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"Average:"</a:t>
            </a:r>
            <a:r>
              <a:rPr sz="24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, average)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1470B607-E39F-4744-8A84-1A66DD43BDF9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Example: 80, 70 and 90 give an average of 80.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1EA8EC1A-A5C0-4F2C-9B99-6808F3EC532E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Choosing the grade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94889D20-8C0C-43F3-992C-0D3E2A056636}"/>
              </a:ext>
            </a:extLst>
          </p:cNvPr>
          <p:cNvSpPr>
            <a:spLocks noGrp="1"/>
          </p:cNvSpPr>
          <p:nvPr/>
        </p:nvSpPr>
        <p:spPr>
          <a:xfrm>
            <a:off x="571500" y="1238250"/>
            <a:ext cx="6191250" cy="485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80: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A"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70: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B"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60: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C"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50: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D"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F"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4FCF1A51-1F7F-46D8-BC65-B56A9D8EB4AB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Check the highest</a:t>
            </a:r>
          </a:p>
          <a:p>
            <a:pPr>
              <a:defRPr sz="28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score first.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5CA08948-C48D-451E-8DB8-E1A844CFBC64}"/>
              </a:ext>
            </a:extLst>
          </p:cNvPr>
          <p:cNvSpPr>
            <a:spLocks noGrp="1"/>
          </p:cNvSpPr>
          <p:nvPr/>
        </p:nvSpPr>
        <p:spPr>
          <a:xfrm>
            <a:off x="7810500" y="3476625"/>
            <a:ext cx="3714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If the first check is False,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the average is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already below 80.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94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24A50766-2F58-4250-8D59-700D63A42CE8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Tracing a decision: average = 75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F1D52E52-85B9-4FBE-A238-C70CC70B3101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07275157-F79D-4021-A90E-2AFA4B17BA47}"/>
              </a:ext>
            </a:extLst>
          </p:cNvPr>
          <p:cNvSpPr>
            <a:spLocks noGrp="1"/>
          </p:cNvSpPr>
          <p:nvPr/>
        </p:nvSpPr>
        <p:spPr>
          <a:xfrm>
            <a:off x="6667500" y="1285875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B14FB5F9-64A1-4D02-A76B-0A6275BCCF64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75 &gt;= 80</a:t>
            </a:r>
          </a:p>
        </p:txBody>
      </p:sp>
      <p:sp>
        <p:nvSpPr>
          <p:cNvPr id="1004" name="Lesson text 5">
            <a:extLst>
              <a:ext uri="{FF2B5EF4-FFF2-40B4-BE49-F238E27FC236}">
                <a16:creationId xmlns:a16="http://schemas.microsoft.com/office/drawing/2014/main" id="{E1FB3742-5D08-443E-A71F-6041D708D149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False: try the next condition</a:t>
            </a:r>
          </a:p>
        </p:txBody>
      </p:sp>
      <p:sp>
        <p:nvSpPr>
          <p:cNvPr id="1005" name="Lesson text 6">
            <a:extLst>
              <a:ext uri="{FF2B5EF4-FFF2-40B4-BE49-F238E27FC236}">
                <a16:creationId xmlns:a16="http://schemas.microsoft.com/office/drawing/2014/main" id="{F1A8CC75-7846-4F1D-ABC1-4BA369C632B1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75 &gt;= 70</a:t>
            </a:r>
          </a:p>
        </p:txBody>
      </p:sp>
      <p:sp>
        <p:nvSpPr>
          <p:cNvPr id="1006" name="Lesson text 7">
            <a:extLst>
              <a:ext uri="{FF2B5EF4-FFF2-40B4-BE49-F238E27FC236}">
                <a16:creationId xmlns:a16="http://schemas.microsoft.com/office/drawing/2014/main" id="{ADA52714-0CB7-4D0B-B2AE-5588A2804078}"/>
              </a:ext>
            </a:extLst>
          </p:cNvPr>
          <p:cNvSpPr>
            <a:spLocks noGrp="1"/>
          </p:cNvSpPr>
          <p:nvPr/>
        </p:nvSpPr>
        <p:spPr>
          <a:xfrm>
            <a:off x="6667500" y="3571875"/>
            <a:ext cx="4857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True: print Grade: B</a:t>
            </a:r>
          </a:p>
        </p:txBody>
      </p:sp>
      <p:sp>
        <p:nvSpPr>
          <p:cNvPr id="1007" name="Lesson text 8">
            <a:extLst>
              <a:ext uri="{FF2B5EF4-FFF2-40B4-BE49-F238E27FC236}">
                <a16:creationId xmlns:a16="http://schemas.microsoft.com/office/drawing/2014/main" id="{FABD47F7-B88A-4468-8283-010062E4B3FB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B52"/>
                </a:solidFill>
                <a:latin typeface="Arial"/>
                <a:ea typeface="Arial"/>
                <a:cs typeface="Arial"/>
              </a:rPr>
              <a:t>The remaining branches are skipped.</a:t>
            </a:r>
          </a:p>
        </p:txBody>
      </p:sp>
    </p:spTree>
    <p:extLst>
      <p:ext uri="{BB962C8B-B14F-4D97-AF65-F5344CB8AC3E}">
        <p14:creationId xmlns:p14="http://schemas.microsoft.com/office/powerpoint/2010/main" val="134135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9E8FDE62-F3EB-4893-B3F2-B456E7D8E452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Why the order matters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C386E486-B44D-4FBC-AAF8-4BE65B4C2358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6953250" cy="3381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average = 85</a:t>
            </a:r>
          </a:p>
          <a:p>
            <a:endParaRPr sz="2475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50: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7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D"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average &gt;= 80: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7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"Grade: A"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45CB8235-838C-4480-8A43-378AFA5A448A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333375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85 &gt;= 50 is True.</a:t>
            </a:r>
          </a:p>
          <a:p>
            <a:endParaRPr sz="2475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4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The program prints D</a:t>
            </a:r>
          </a:p>
          <a:p>
            <a:pPr>
              <a:defRPr sz="24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and skips the elif.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BED77007-F5BA-46FF-B711-BA7123EDCDE6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How would you fix the order?</a:t>
            </a:r>
          </a:p>
        </p:txBody>
      </p:sp>
    </p:spTree>
    <p:extLst>
      <p:ext uri="{BB962C8B-B14F-4D97-AF65-F5344CB8AC3E}">
        <p14:creationId xmlns:p14="http://schemas.microsoft.com/office/powerpoint/2010/main" val="1972852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4E42B204-4A17-4ABC-A99F-3F2257A47159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Spot the errors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36DDFCBF-4433-4BDC-B5CE-8916C3CA730C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110490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drink = </a:t>
            </a:r>
            <a:r>
              <a:rPr sz="247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 or coffee? 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2475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 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"tea"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tea."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"coffee"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47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47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47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coffee."</a:t>
            </a:r>
            <a:r>
              <a:rPr sz="247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3A299334-59E8-4033-9321-A258927DF02E}"/>
              </a:ext>
            </a:extLst>
          </p:cNvPr>
          <p:cNvSpPr>
            <a:spLocks noGrp="1"/>
          </p:cNvSpPr>
          <p:nvPr/>
        </p:nvSpPr>
        <p:spPr>
          <a:xfrm>
            <a:off x="571500" y="5095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Find four errors. Then rewrite the program.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82E75687-CD39-4E79-B45B-4680CD76BB33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Think about comparison, colons, indentation and elif.</a:t>
            </a:r>
          </a:p>
        </p:txBody>
      </p:sp>
    </p:spTree>
    <p:extLst>
      <p:ext uri="{BB962C8B-B14F-4D97-AF65-F5344CB8AC3E}">
        <p14:creationId xmlns:p14="http://schemas.microsoft.com/office/powerpoint/2010/main" val="1694538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5600DD84-DF9F-48B5-9959-46A213956301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Debugging: the corrected code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3AC2320F-B16E-413E-A953-AC7113D55588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095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drink =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 or coffee? 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2325" b="0">
              <a:solidFill>
                <a:srgbClr val="173C60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"tea"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tea."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drink == 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"coffee"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"Here is your coffee."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defRPr sz="2325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325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"Sorry, we only have tea or coffee."</a:t>
            </a:r>
            <a:r>
              <a:rPr sz="2325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381C0C7E-C22C-4625-9ACC-584F4069254D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83"/>
                </a:solidFill>
                <a:latin typeface="Arial"/>
                <a:ea typeface="Arial"/>
                <a:cs typeface="Arial"/>
              </a:rPr>
              <a:t>== compares values. A colon starts each branch.</a:t>
            </a:r>
          </a:p>
          <a:p>
            <a:pPr>
              <a:defRPr sz="2250" b="0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83"/>
                </a:solidFill>
                <a:latin typeface="Arial"/>
                <a:ea typeface="Arial"/>
                <a:cs typeface="Arial"/>
              </a:rPr>
              <a:t>Indent each branch. Use elif for another condition.</a:t>
            </a:r>
          </a:p>
        </p:txBody>
      </p:sp>
    </p:spTree>
    <p:extLst>
      <p:ext uri="{BB962C8B-B14F-4D97-AF65-F5344CB8AC3E}">
        <p14:creationId xmlns:p14="http://schemas.microsoft.com/office/powerpoint/2010/main" val="1144207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7C9C720C-18F9-41DF-A619-47E4128FBDA9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Separate if statements or one chain?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E8D19588-49A5-4171-A2C4-B1587A365F8F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5286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Separate if statements</a:t>
            </a:r>
          </a:p>
        </p:txBody>
      </p:sp>
      <p:sp>
        <p:nvSpPr>
          <p:cNvPr id="1002" name="Lesson text 3">
            <a:extLst>
              <a:ext uri="{FF2B5EF4-FFF2-40B4-BE49-F238E27FC236}">
                <a16:creationId xmlns:a16="http://schemas.microsoft.com/office/drawing/2014/main" id="{5495ECB8-3005-4E0D-AB93-391FE59EE7F4}"/>
              </a:ext>
            </a:extLst>
          </p:cNvPr>
          <p:cNvSpPr>
            <a:spLocks noGrp="1"/>
          </p:cNvSpPr>
          <p:nvPr/>
        </p:nvSpPr>
        <p:spPr>
          <a:xfrm>
            <a:off x="6477000" y="1190625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One if / elif chain</a:t>
            </a:r>
          </a:p>
        </p:txBody>
      </p:sp>
      <p:sp>
        <p:nvSpPr>
          <p:cNvPr id="1003" name="Lesson text 4">
            <a:extLst>
              <a:ext uri="{FF2B5EF4-FFF2-40B4-BE49-F238E27FC236}">
                <a16:creationId xmlns:a16="http://schemas.microsoft.com/office/drawing/2014/main" id="{755119C3-8E67-447D-9591-E32EE87C3889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5191125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score = 85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score &gt;= 50: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25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25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"Pass"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score &gt;= 80: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25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25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"Excellent"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4" name="Lesson text 5">
            <a:extLst>
              <a:ext uri="{FF2B5EF4-FFF2-40B4-BE49-F238E27FC236}">
                <a16:creationId xmlns:a16="http://schemas.microsoft.com/office/drawing/2014/main" id="{753C6606-5E94-4EC1-892B-067F45BF5FF1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523875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score = 85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score &gt;= 80: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25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25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"Excellent"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7A3599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score &gt;= 50:</a:t>
            </a:r>
          </a:p>
          <a:p>
            <a:pPr>
              <a:defRPr sz="2250" b="0">
                <a:solidFill>
                  <a:srgbClr val="173C60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250" b="0">
                <a:solidFill>
                  <a:srgbClr val="007D8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250" b="0">
                <a:solidFill>
                  <a:srgbClr val="08754B"/>
                </a:solidFill>
                <a:latin typeface="Consolas"/>
                <a:ea typeface="Consolas"/>
                <a:cs typeface="Consolas"/>
              </a:rPr>
              <a:t>"Pass"</a:t>
            </a:r>
            <a:r>
              <a:rPr sz="2250" b="0">
                <a:solidFill>
                  <a:srgbClr val="173C6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05" name="Lesson text 6">
            <a:extLst>
              <a:ext uri="{FF2B5EF4-FFF2-40B4-BE49-F238E27FC236}">
                <a16:creationId xmlns:a16="http://schemas.microsoft.com/office/drawing/2014/main" id="{B2C6BAB2-323F-4F49-BFAF-BF625E394568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Both messages print.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Each if checks separately.</a:t>
            </a:r>
          </a:p>
        </p:txBody>
      </p:sp>
      <p:sp>
        <p:nvSpPr>
          <p:cNvPr id="1006" name="Lesson text 7">
            <a:extLst>
              <a:ext uri="{FF2B5EF4-FFF2-40B4-BE49-F238E27FC236}">
                <a16:creationId xmlns:a16="http://schemas.microsoft.com/office/drawing/2014/main" id="{DF387763-6F17-41C8-9B10-97402256BF13}"/>
              </a:ext>
            </a:extLst>
          </p:cNvPr>
          <p:cNvSpPr>
            <a:spLocks noGrp="1"/>
          </p:cNvSpPr>
          <p:nvPr/>
        </p:nvSpPr>
        <p:spPr>
          <a:xfrm>
            <a:off x="6477000" y="5238750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Only Excellent prints.</a:t>
            </a:r>
          </a:p>
          <a:p>
            <a:pPr>
              <a:defRPr sz="24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The chain chooses one branch.</a:t>
            </a:r>
          </a:p>
        </p:txBody>
      </p:sp>
    </p:spTree>
    <p:extLst>
      <p:ext uri="{BB962C8B-B14F-4D97-AF65-F5344CB8AC3E}">
        <p14:creationId xmlns:p14="http://schemas.microsoft.com/office/powerpoint/2010/main" val="323004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ACBB4BB9-582B-4F46-8076-18D0622473DB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Quick check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78BA1E36-8A36-4743-BEE3-8229255B08D5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1. Which keyword checks another condition?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2. When does else run?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3. What grade does an average of 70 receive?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4. Why must the statements inside a branch be indented?</a:t>
            </a:r>
          </a:p>
        </p:txBody>
      </p:sp>
    </p:spTree>
    <p:extLst>
      <p:ext uri="{BB962C8B-B14F-4D97-AF65-F5344CB8AC3E}">
        <p14:creationId xmlns:p14="http://schemas.microsoft.com/office/powerpoint/2010/main" val="150671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Lesson text 1">
            <a:extLst>
              <a:ext uri="{FF2B5EF4-FFF2-40B4-BE49-F238E27FC236}">
                <a16:creationId xmlns:a16="http://schemas.microsoft.com/office/drawing/2014/main" id="{EDE2418D-329E-4F72-B8A1-12D701001D1C}"/>
              </a:ext>
            </a:extLst>
          </p:cNvPr>
          <p:cNvSpPr>
            <a:spLocks noGrp="1"/>
          </p:cNvSpPr>
          <p:nvPr/>
        </p:nvSpPr>
        <p:spPr>
          <a:xfrm>
            <a:off x="523875" y="2857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46"/>
                </a:solidFill>
                <a:latin typeface="Arial"/>
                <a:ea typeface="Arial"/>
                <a:cs typeface="Arial"/>
              </a:rPr>
              <a:t>Quick check: answers</a:t>
            </a:r>
          </a:p>
        </p:txBody>
      </p:sp>
      <p:sp>
        <p:nvSpPr>
          <p:cNvPr id="1001" name="Lesson text 2">
            <a:extLst>
              <a:ext uri="{FF2B5EF4-FFF2-40B4-BE49-F238E27FC236}">
                <a16:creationId xmlns:a16="http://schemas.microsoft.com/office/drawing/2014/main" id="{6DB9948A-D15F-4381-81E3-C184D61B950A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08585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1. elif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2. When every earlier condition is False.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3. Grade B.</a:t>
            </a:r>
          </a:p>
          <a:p>
            <a:endParaRPr sz="2700" b="0">
              <a:solidFill>
                <a:srgbClr val="233B52"/>
              </a:solidFill>
              <a:latin typeface="Arial"/>
              <a:ea typeface="Arial"/>
              <a:cs typeface="Arial"/>
            </a:endParaRP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4. Indentation shows which statements belong</a:t>
            </a:r>
          </a:p>
          <a:p>
            <a:pPr>
              <a:defRPr sz="27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    to that branch.</a:t>
            </a:r>
          </a:p>
        </p:txBody>
      </p:sp>
    </p:spTree>
    <p:extLst>
      <p:ext uri="{BB962C8B-B14F-4D97-AF65-F5344CB8AC3E}">
        <p14:creationId xmlns:p14="http://schemas.microsoft.com/office/powerpoint/2010/main" val="84302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1037</Words>
  <Application>Microsoft Office PowerPoint</Application>
  <PresentationFormat>Widescreen</PresentationFormat>
  <Paragraphs>188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Consolas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zainab ozioko</dc:creator>
  <cp:lastModifiedBy>Paul Ozioko</cp:lastModifiedBy>
  <cp:revision>3</cp:revision>
  <dcterms:modified xsi:type="dcterms:W3CDTF">2026-10-09T23:59:42Z</dcterms:modified>
</cp:coreProperties>
</file>