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ul Ozioko" initials="PO" lastIdx="1" clrIdx="0">
    <p:extLst>
      <p:ext uri="{19B8F6BF-5375-455C-9EA6-DF929625EA0E}">
        <p15:presenceInfo xmlns:p15="http://schemas.microsoft.com/office/powerpoint/2012/main" userId="d90dce379f3360c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3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63640" y="0"/>
            <a:ext cx="411480" cy="6858000"/>
          </a:xfrm>
          <a:prstGeom prst="rect">
            <a:avLst/>
          </a:prstGeom>
          <a:solidFill>
            <a:srgbClr val="173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4444743" cy="21672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/>
              <a:t>Measuring Tree Height</a:t>
            </a:r>
          </a:p>
          <a:p>
            <a:pPr>
              <a:defRPr sz="3400" b="1">
                <a:solidFill>
                  <a:srgbClr val="E8AE3D"/>
                </a:solidFill>
              </a:defRPr>
            </a:pPr>
            <a:r>
              <a:rPr dirty="0"/>
              <a:t>with Trigonometry</a:t>
            </a:r>
          </a:p>
          <a:p>
            <a:pPr>
              <a:spcBef>
                <a:spcPts val="1800"/>
              </a:spcBef>
              <a:defRPr sz="1800">
                <a:solidFill>
                  <a:srgbClr val="FFFFFF"/>
                </a:solidFill>
              </a:defRPr>
            </a:pPr>
            <a:r>
              <a:rPr dirty="0"/>
              <a:t>Applied Mathematics Field Investigation</a:t>
            </a:r>
          </a:p>
          <a:p>
            <a:pPr>
              <a:spcBef>
                <a:spcPts val="2500"/>
              </a:spcBef>
              <a:defRPr sz="1300">
                <a:solidFill>
                  <a:srgbClr val="FFFFFF"/>
                </a:solidFill>
              </a:defRPr>
            </a:pPr>
            <a:r>
              <a:rPr dirty="0"/>
              <a:t>Group</a:t>
            </a:r>
            <a:r>
              <a:rPr lang="en-GB"/>
              <a:t>: Euler</a:t>
            </a:r>
            <a:endParaRPr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10DEA8-554B-4548-B34A-62F0EC135E9C}"/>
              </a:ext>
            </a:extLst>
          </p:cNvPr>
          <p:cNvSpPr/>
          <p:nvPr/>
        </p:nvSpPr>
        <p:spPr>
          <a:xfrm>
            <a:off x="10103224" y="1120588"/>
            <a:ext cx="295835" cy="68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C3EBD8-D1CF-4D43-A652-CD81040F2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1278367"/>
            <a:ext cx="5907741" cy="43012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952"/>
                </a:solidFill>
                <a:latin typeface="Aptos Display"/>
              </a:defRPr>
            </a:pPr>
            <a:r>
              <a:t>1. Our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86E"/>
                </a:solidFill>
                <a:latin typeface="Aptos"/>
              </a:defRPr>
            </a:pPr>
            <a:r>
              <a:t>How can trigonometry help us measure something we cannot measure directly?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303520" cy="1143000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72200" y="1417320"/>
            <a:ext cx="64008" cy="1143000"/>
          </a:xfrm>
          <a:prstGeom prst="rect">
            <a:avLst/>
          </a:prstGeom>
          <a:solidFill>
            <a:srgbClr val="35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82512" y="1536192"/>
            <a:ext cx="493775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Our 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920240"/>
            <a:ext cx="4919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2E"/>
                </a:solidFill>
              </a:defRPr>
            </a:pPr>
            <a:r>
              <a:t>To estimate the height of a tree using angle measurement, distance and trigonometry.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834640"/>
            <a:ext cx="5303520" cy="1417320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2834640"/>
            <a:ext cx="64008" cy="1417320"/>
          </a:xfrm>
          <a:prstGeom prst="rect">
            <a:avLst/>
          </a:prstGeom>
          <a:solidFill>
            <a:srgbClr val="E8A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2953512"/>
            <a:ext cx="493775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Our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337560"/>
            <a:ext cx="49194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2E"/>
                </a:solidFill>
              </a:defRPr>
            </a:pPr>
            <a:r>
              <a:t>We thought the tree would be around 10 metres tall. We wanted to see how close our calculation would 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526280"/>
            <a:ext cx="5303520" cy="1234440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4526280"/>
            <a:ext cx="64008" cy="1234440"/>
          </a:xfrm>
          <a:prstGeom prst="rect">
            <a:avLst/>
          </a:prstGeom>
          <a:solidFill>
            <a:srgbClr val="35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4645152"/>
            <a:ext cx="493775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Why this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5029200"/>
            <a:ext cx="4919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2E"/>
                </a:solidFill>
              </a:defRPr>
            </a:pPr>
            <a:r>
              <a:t>The tree, the ground and our line of sight can be modelled as a right-angled triangle.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E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6E"/>
                </a:solidFill>
              </a:defRPr>
            </a:pPr>
            <a:r>
              <a:t>2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A423CCF-14D2-42E1-898B-FBCE097EB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60" y="1572768"/>
            <a:ext cx="5978921" cy="4443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952"/>
                </a:solidFill>
                <a:latin typeface="Aptos Display"/>
              </a:defRPr>
            </a:pPr>
            <a:r>
              <a:t>2. Method and 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86E"/>
                </a:solidFill>
                <a:latin typeface="Aptos"/>
              </a:defRPr>
            </a:pPr>
            <a:r>
              <a:t>Each person had a clear job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486400" cy="1024128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024128"/>
          </a:xfrm>
          <a:prstGeom prst="rect">
            <a:avLst/>
          </a:prstGeom>
          <a:solidFill>
            <a:srgbClr val="35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44752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Student 1 —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5102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2E"/>
                </a:solidFill>
              </a:defRPr>
            </a:pPr>
            <a:r>
              <a:t>Measured 12.0 m from the base of the tree to our observation 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51760"/>
            <a:ext cx="5486400" cy="1024128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651760"/>
            <a:ext cx="64008" cy="1024128"/>
          </a:xfrm>
          <a:prstGeom prst="rect">
            <a:avLst/>
          </a:prstGeom>
          <a:solidFill>
            <a:srgbClr val="E8A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770632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Student 2 —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154680"/>
            <a:ext cx="5102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2E"/>
                </a:solidFill>
              </a:defRPr>
            </a:pPr>
            <a:r>
              <a:t>Measured an angle of elevation of 37° to the top of the tree.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77639"/>
            <a:ext cx="5486400" cy="1024128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977639"/>
            <a:ext cx="64008" cy="1024128"/>
          </a:xfrm>
          <a:prstGeom prst="rect">
            <a:avLst/>
          </a:prstGeom>
          <a:solidFill>
            <a:srgbClr val="35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4096511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Student 3 — Record &amp;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480559"/>
            <a:ext cx="5102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2E"/>
                </a:solidFill>
              </a:defRPr>
            </a:pPr>
            <a:r>
              <a:t>Recorded the readings, measured eye height and checked the calculation.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440680"/>
            <a:ext cx="5486400" cy="731520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5440680"/>
            <a:ext cx="64008" cy="731520"/>
          </a:xfrm>
          <a:prstGeom prst="rect">
            <a:avLst/>
          </a:prstGeom>
          <a:solidFill>
            <a:srgbClr val="E8A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5559552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Equipment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943600"/>
            <a:ext cx="510235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2E"/>
                </a:solidFill>
              </a:defRPr>
            </a:pPr>
            <a:r>
              <a:t>Tape measure • metre stick • angle-measuring device • calculator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E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6E"/>
                </a:solidFill>
              </a:defRPr>
            </a:pPr>
            <a:r>
              <a:t>3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3E8AD6F-0C55-400F-9D4C-E891BD12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885892"/>
            <a:ext cx="5873496" cy="5588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952"/>
                </a:solidFill>
                <a:latin typeface="Aptos Display"/>
              </a:defRPr>
            </a:pPr>
            <a:r>
              <a:t>3. Our measured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86E"/>
                </a:solidFill>
                <a:latin typeface="Aptos"/>
              </a:defRPr>
            </a:pPr>
            <a:r>
              <a:t>These are the readings we used in our calculation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486400" cy="841248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82495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2E"/>
                </a:solidFill>
              </a:defRPr>
            </a:pPr>
            <a:r>
              <a:t>Distance from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655063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5E686E"/>
                </a:solidFill>
              </a:defRPr>
            </a:pPr>
            <a: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27631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173952"/>
                </a:solidFill>
              </a:defRPr>
            </a:pPr>
            <a:r>
              <a:t>12.0 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51760"/>
            <a:ext cx="5486400" cy="841248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25496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2E"/>
                </a:solidFill>
              </a:defRPr>
            </a:pPr>
            <a:r>
              <a:t>Angle of elevation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798064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5E686E"/>
                </a:solidFill>
              </a:defRPr>
            </a:pPr>
            <a:r>
              <a:t>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70632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173952"/>
                </a:solidFill>
              </a:defRPr>
            </a:pPr>
            <a:r>
              <a:t>37°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5486400" cy="841248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968496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2E"/>
                </a:solidFill>
              </a:defRPr>
            </a:pPr>
            <a:r>
              <a:t>Observer's eye height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941064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5E686E"/>
                </a:solidFill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3913632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173952"/>
                </a:solidFill>
              </a:defRPr>
            </a:pPr>
            <a:r>
              <a:t>1.50 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66360"/>
            <a:ext cx="5486400" cy="822960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166360"/>
            <a:ext cx="64008" cy="822960"/>
          </a:xfrm>
          <a:prstGeom prst="rect">
            <a:avLst/>
          </a:prstGeom>
          <a:solidFill>
            <a:srgbClr val="E8A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5285232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Important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5669280"/>
            <a:ext cx="5102352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2E"/>
                </a:solidFill>
              </a:defRPr>
            </a:pPr>
            <a:r>
              <a:t>We measured from the tree to the observation point along the ground.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E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6E"/>
                </a:solidFill>
              </a:defRPr>
            </a:pPr>
            <a:r>
              <a:t>4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0076D63-4D97-47F0-844F-B36982D3C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85892"/>
            <a:ext cx="5791200" cy="5588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952"/>
                </a:solidFill>
                <a:latin typeface="Aptos Display"/>
              </a:defRPr>
            </a:pPr>
            <a:r>
              <a:t>4. Turning the situation into a 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86E"/>
                </a:solidFill>
                <a:latin typeface="Aptos"/>
              </a:defRPr>
            </a:pPr>
            <a:r>
              <a:t>We used the tangent ratio because we knew the opposite and adjacent sides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51560" y="5349240"/>
            <a:ext cx="5349240" cy="0"/>
          </a:xfrm>
          <a:prstGeom prst="line">
            <a:avLst/>
          </a:prstGeom>
          <a:ln w="38100">
            <a:solidFill>
              <a:srgbClr val="17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400800" y="1417320"/>
            <a:ext cx="0" cy="3931920"/>
          </a:xfrm>
          <a:prstGeom prst="line">
            <a:avLst/>
          </a:prstGeom>
          <a:ln w="38100">
            <a:solidFill>
              <a:srgbClr val="17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51560" y="1417320"/>
            <a:ext cx="5349240" cy="3931920"/>
          </a:xfrm>
          <a:prstGeom prst="line">
            <a:avLst/>
          </a:prstGeom>
          <a:ln w="38100">
            <a:solidFill>
              <a:srgbClr val="17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108192" y="5056632"/>
            <a:ext cx="292608" cy="292608"/>
          </a:xfrm>
          <a:prstGeom prst="rect">
            <a:avLst/>
          </a:prstGeom>
          <a:noFill/>
          <a:ln>
            <a:solidFill>
              <a:srgbClr val="5E6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423160" y="5532120"/>
            <a:ext cx="2560320" cy="566928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23160" y="5532120"/>
            <a:ext cx="64008" cy="566928"/>
          </a:xfrm>
          <a:prstGeom prst="rect">
            <a:avLst/>
          </a:prstGeom>
          <a:solidFill>
            <a:srgbClr val="E8A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33472" y="5650992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Adjacent: d = 12.0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788920"/>
            <a:ext cx="2377440" cy="841248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2788920"/>
            <a:ext cx="64008" cy="841248"/>
          </a:xfrm>
          <a:prstGeom prst="rect">
            <a:avLst/>
          </a:prstGeom>
          <a:solidFill>
            <a:srgbClr val="35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2907791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Opposite: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3291839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A2E"/>
                </a:solidFill>
              </a:defRPr>
            </a:pPr>
            <a:r>
              <a:t>height above eye level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788920"/>
            <a:ext cx="1965960" cy="713232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28800" y="2788920"/>
            <a:ext cx="64008" cy="713232"/>
          </a:xfrm>
          <a:prstGeom prst="rect">
            <a:avLst/>
          </a:prstGeom>
          <a:solidFill>
            <a:srgbClr val="E8A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39112" y="2907791"/>
            <a:ext cx="1600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Angle: θ = 37°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600200"/>
            <a:ext cx="2331720" cy="960120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98280" y="1600200"/>
            <a:ext cx="64008" cy="960120"/>
          </a:xfrm>
          <a:prstGeom prst="rect">
            <a:avLst/>
          </a:prstGeom>
          <a:solidFill>
            <a:srgbClr val="35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08592" y="1719072"/>
            <a:ext cx="1965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Eye height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103120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2E"/>
                </a:solidFill>
              </a:defRPr>
            </a:pPr>
            <a:r>
              <a:t>1.50 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834640"/>
            <a:ext cx="2331720" cy="1143000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98280" y="2834640"/>
            <a:ext cx="64008" cy="1143000"/>
          </a:xfrm>
          <a:prstGeom prst="rect">
            <a:avLst/>
          </a:prstGeom>
          <a:solidFill>
            <a:srgbClr val="E8A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08592" y="2953512"/>
            <a:ext cx="1965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Formula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3337560"/>
            <a:ext cx="1947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2E"/>
                </a:solidFill>
              </a:defRPr>
            </a:pPr>
            <a:r>
              <a:t>tan θ = h ÷ 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4251960"/>
            <a:ext cx="2331720" cy="1143000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98280" y="4251960"/>
            <a:ext cx="64008" cy="1143000"/>
          </a:xfrm>
          <a:prstGeom prst="rect">
            <a:avLst/>
          </a:prstGeom>
          <a:solidFill>
            <a:srgbClr val="35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08592" y="4370832"/>
            <a:ext cx="1965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Rearrange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754880"/>
            <a:ext cx="1947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2E"/>
                </a:solidFill>
              </a:defRPr>
            </a:pPr>
            <a:r>
              <a:t>h = d × tan 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E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6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952"/>
                </a:solidFill>
                <a:latin typeface="Aptos Display"/>
              </a:defRPr>
            </a:pPr>
            <a:r>
              <a:t>5. Our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86E"/>
                </a:solidFill>
                <a:latin typeface="Aptos"/>
              </a:defRPr>
            </a:pPr>
            <a:r>
              <a:t>We calculated the height above eye level first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399032"/>
            <a:ext cx="502920" cy="502920"/>
          </a:xfrm>
          <a:prstGeom prst="ellipse">
            <a:avLst/>
          </a:prstGeom>
          <a:solidFill>
            <a:srgbClr val="35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721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325880"/>
            <a:ext cx="5715000" cy="749808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463040" y="1325880"/>
            <a:ext cx="64008" cy="749808"/>
          </a:xfrm>
          <a:prstGeom prst="rect">
            <a:avLst/>
          </a:prstGeom>
          <a:solidFill>
            <a:srgbClr val="35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73352" y="1444752"/>
            <a:ext cx="5349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Use tangent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" y="1828800"/>
            <a:ext cx="5330952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2E"/>
                </a:solidFill>
              </a:defRPr>
            </a:pPr>
            <a:r>
              <a:t>tan 37° = h ÷ 12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569464"/>
            <a:ext cx="502920" cy="502920"/>
          </a:xfrm>
          <a:prstGeom prst="ellipse">
            <a:avLst/>
          </a:prstGeom>
          <a:solidFill>
            <a:srgbClr val="35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64261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496312"/>
            <a:ext cx="5715000" cy="749808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63040" y="2496312"/>
            <a:ext cx="64008" cy="749808"/>
          </a:xfrm>
          <a:prstGeom prst="rect">
            <a:avLst/>
          </a:prstGeom>
          <a:solidFill>
            <a:srgbClr val="35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73352" y="2615184"/>
            <a:ext cx="5349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Rearrange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2" y="2999232"/>
            <a:ext cx="5330952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2E"/>
                </a:solidFill>
              </a:defRPr>
            </a:pPr>
            <a:r>
              <a:t>h = 12 × tan 37°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739896"/>
            <a:ext cx="502920" cy="502920"/>
          </a:xfrm>
          <a:prstGeom prst="ellipse">
            <a:avLst/>
          </a:prstGeom>
          <a:solidFill>
            <a:srgbClr val="35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81304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666744"/>
            <a:ext cx="5715000" cy="749808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463040" y="3666744"/>
            <a:ext cx="64008" cy="749808"/>
          </a:xfrm>
          <a:prstGeom prst="rect">
            <a:avLst/>
          </a:prstGeom>
          <a:solidFill>
            <a:srgbClr val="35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73352" y="3785615"/>
            <a:ext cx="5349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Calculate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4169663"/>
            <a:ext cx="5330952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2E"/>
                </a:solidFill>
              </a:defRPr>
            </a:pPr>
            <a:r>
              <a:t>h = 12 × 0.7536 = 9.04 m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910328"/>
            <a:ext cx="502920" cy="502920"/>
          </a:xfrm>
          <a:prstGeom prst="ellipse">
            <a:avLst/>
          </a:prstGeom>
          <a:solidFill>
            <a:srgbClr val="E8A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4837176"/>
            <a:ext cx="5715000" cy="749808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463040" y="4837176"/>
            <a:ext cx="64008" cy="749808"/>
          </a:xfrm>
          <a:prstGeom prst="rect">
            <a:avLst/>
          </a:prstGeom>
          <a:solidFill>
            <a:srgbClr val="E8A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73352" y="4956048"/>
            <a:ext cx="5349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Add eye height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73352" y="5340096"/>
            <a:ext cx="5330952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2E"/>
                </a:solidFill>
              </a:defRPr>
            </a:pPr>
            <a:r>
              <a:t>9.04 + 1.50 = 10.54 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1508760"/>
            <a:ext cx="3657600" cy="3291840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1874519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73952"/>
                </a:solidFill>
              </a:defRPr>
            </a:pPr>
            <a:r>
              <a:t>Estimated tree height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260604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357A53"/>
                </a:solidFill>
              </a:defRPr>
            </a:pPr>
            <a:r>
              <a:t>10.54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70332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8AE3D"/>
                </a:solidFill>
              </a:defRPr>
            </a:pPr>
            <a:r>
              <a:t>≈ 10.5 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5074920"/>
            <a:ext cx="3657600" cy="822960"/>
          </a:xfrm>
          <a:prstGeom prst="roundRect">
            <a:avLst/>
          </a:prstGeom>
          <a:solidFill>
            <a:srgbClr val="F4F8F4"/>
          </a:solidFill>
          <a:ln>
            <a:solidFill>
              <a:srgbClr val="DE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26679" y="5074920"/>
            <a:ext cx="64008" cy="822960"/>
          </a:xfrm>
          <a:prstGeom prst="rect">
            <a:avLst/>
          </a:prstGeom>
          <a:solidFill>
            <a:srgbClr val="35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36992" y="5193792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952"/>
                </a:solidFill>
              </a:defRPr>
            </a:pPr>
            <a:r>
              <a:t>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36992" y="5577840"/>
            <a:ext cx="3273552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2E"/>
                </a:solidFill>
              </a:defRPr>
            </a:pPr>
            <a:r>
              <a:t>This is close to our original prediction.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E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6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952"/>
                </a:solidFill>
                <a:latin typeface="Aptos Display"/>
              </a:defRPr>
            </a:pPr>
            <a:r>
              <a:t>6. How accurate is our estimate?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86E"/>
                </a:solidFill>
                <a:latin typeface="Aptos"/>
              </a:defRPr>
            </a:pPr>
            <a:r>
              <a:t>Our answer is an estimate, not an exact 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91210"/>
            <a:ext cx="5440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2E"/>
                </a:solidFill>
                <a:latin typeface="Aptos"/>
              </a:defRPr>
            </a:pPr>
            <a:r>
              <a:t>• A small error in the 37° angle would change the calculated height.</a:t>
            </a:r>
          </a:p>
          <a:p>
            <a:pPr>
              <a:spcAft>
                <a:spcPts val="1000"/>
              </a:spcAft>
              <a:defRPr sz="1700">
                <a:solidFill>
                  <a:srgbClr val="232A2E"/>
                </a:solidFill>
                <a:latin typeface="Aptos"/>
              </a:defRPr>
            </a:pPr>
            <a:r>
              <a:t>• The ground may not be perfectly level.</a:t>
            </a:r>
          </a:p>
          <a:p>
            <a:pPr>
              <a:spcAft>
                <a:spcPts val="1000"/>
              </a:spcAft>
              <a:defRPr sz="1700">
                <a:solidFill>
                  <a:srgbClr val="232A2E"/>
                </a:solidFill>
                <a:latin typeface="Aptos"/>
              </a:defRPr>
            </a:pPr>
            <a:r>
              <a:t>• It can be difficult to aim at the exact top of the tree.</a:t>
            </a:r>
          </a:p>
          <a:p>
            <a:pPr>
              <a:spcAft>
                <a:spcPts val="1000"/>
              </a:spcAft>
              <a:defRPr sz="1700">
                <a:solidFill>
                  <a:srgbClr val="232A2E"/>
                </a:solidFill>
                <a:latin typeface="Aptos"/>
              </a:defRPr>
            </a:pPr>
            <a:r>
              <a:t>• Our eye-height measurement may have a small error.</a:t>
            </a:r>
          </a:p>
          <a:p>
            <a:pPr>
              <a:spcAft>
                <a:spcPts val="1000"/>
              </a:spcAft>
              <a:defRPr sz="1700">
                <a:solidFill>
                  <a:srgbClr val="232A2E"/>
                </a:solidFill>
                <a:latin typeface="Aptos"/>
              </a:defRPr>
            </a:pPr>
            <a:r>
              <a:t>• We could improve reliability by taking three readings and finding the average.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E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6E"/>
                </a:solidFill>
              </a:defRPr>
            </a:pPr>
            <a:r>
              <a:t>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AC3F9-3C96-44D9-8127-17406EA15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885892"/>
            <a:ext cx="5873496" cy="5588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7. 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394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• Trigonometry can be used to solve a real measurement problem.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• Good measurements are important because they affect the final answer.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• We had to communicate and check each other’s work.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• Our final estimate was 10.54 m.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• If we did it again, we would repeat the measurements and compare the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AE3D"/>
                </a:solidFill>
              </a:defRPr>
            </a:pPr>
            <a:r>
              <a:t>Thank you —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497</Words>
  <Application>Microsoft Office PowerPoint</Application>
  <PresentationFormat>Widescreen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zainab ozioko</dc:creator>
  <cp:keywords/>
  <dc:description>generated using python-pptx</dc:description>
  <cp:lastModifiedBy>Paul Ozioko</cp:lastModifiedBy>
  <cp:revision>11</cp:revision>
  <dcterms:created xsi:type="dcterms:W3CDTF">2013-01-27T09:14:16Z</dcterms:created>
  <dcterms:modified xsi:type="dcterms:W3CDTF">2026-09-25T04:16:47Z</dcterms:modified>
  <cp:category/>
</cp:coreProperties>
</file>